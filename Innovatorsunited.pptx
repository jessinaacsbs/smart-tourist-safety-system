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323232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60" y="5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75180" y="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2800" b="1" dirty="0">
                <a:solidFill>
                  <a:srgbClr val="010000"/>
                </a:solidFill>
                <a:latin typeface="Garamond" panose="02020404030301010803" pitchFamily="18" charset="0"/>
              </a:rPr>
              <a:t>SMART</a:t>
            </a:r>
            <a:r>
              <a:rPr lang="en-US" sz="4000" b="1" dirty="0">
                <a:solidFill>
                  <a:srgbClr val="010000"/>
                </a:solidFill>
                <a:latin typeface="Garamond" panose="02020404030301010803" pitchFamily="18" charset="0"/>
              </a:rPr>
              <a:t> </a:t>
            </a:r>
            <a:r>
              <a:rPr lang="en-US" sz="2800" b="1" dirty="0">
                <a:solidFill>
                  <a:srgbClr val="010000"/>
                </a:solidFill>
                <a:latin typeface="Garamond" panose="02020404030301010803" pitchFamily="18" charset="0"/>
              </a:rPr>
              <a:t>TOURIST SAFETY MONITORING SYSTEM </a:t>
            </a:r>
            <a:endParaRPr lang="en-IN" sz="28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3395" y="1129165"/>
            <a:ext cx="10597217" cy="5616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800" b="1" dirty="0"/>
              <a:t>SIH25002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800" b="1" dirty="0"/>
              <a:t>Smart Tourist Safety Monitoring &amp; Incident Response System using Al, Geo-Fencing, and </a:t>
            </a:r>
            <a:r>
              <a:rPr lang="en-US" sz="2800" b="1" dirty="0" err="1"/>
              <a:t>Blockchain</a:t>
            </a:r>
            <a:r>
              <a:rPr lang="en-US" sz="2800" b="1" dirty="0"/>
              <a:t>-based Digital ID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Travel and Tourism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66593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Innovat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orsunited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16528" y="2582066"/>
            <a:ext cx="666586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800" b="1" u="sng" dirty="0">
              <a:solidFill>
                <a:schemeClr val="tx2"/>
              </a:solidFill>
              <a:latin typeface="+mn-lt"/>
              <a:cs typeface="Arial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+mn-lt"/>
              </a:rPr>
              <a:t>Mobile app with offline maps &amp; geo-fencing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+mn-lt"/>
              </a:rPr>
              <a:t>Blockchain</a:t>
            </a:r>
            <a:r>
              <a:rPr lang="en-US" sz="2800" b="1" dirty="0">
                <a:latin typeface="+mn-lt"/>
              </a:rPr>
              <a:t>-based Digital Tourist ID (secure, verifiable)</a:t>
            </a:r>
            <a:endParaRPr lang="en-IN" sz="2800" b="1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+mn-lt"/>
              </a:rPr>
              <a:t>AI hazard prediction (on-device + cloud)</a:t>
            </a:r>
            <a:endParaRPr lang="en-US" sz="2800" b="1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+mn-lt"/>
              </a:rPr>
              <a:t>SOS button with satellite </a:t>
            </a:r>
            <a:r>
              <a:rPr lang="en-IN" sz="2800" b="1" dirty="0" err="1">
                <a:latin typeface="+mn-lt"/>
              </a:rPr>
              <a:t>fallback</a:t>
            </a:r>
            <a:r>
              <a:rPr lang="en-IN" sz="2800" b="1" dirty="0">
                <a:latin typeface="+mn-lt"/>
              </a:rPr>
              <a:t> (Iridium / </a:t>
            </a:r>
            <a:r>
              <a:rPr lang="en-IN" sz="2800" b="1" dirty="0" err="1">
                <a:latin typeface="+mn-lt"/>
              </a:rPr>
              <a:t>NavIC</a:t>
            </a:r>
            <a:r>
              <a:rPr lang="en-IN" sz="2800" b="1" dirty="0">
                <a:latin typeface="+mn-lt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+mn-lt"/>
              </a:rPr>
              <a:t>Admin dashboard for authorities</a:t>
            </a:r>
            <a:endParaRPr lang="en-US" sz="2800" b="1" dirty="0">
              <a:latin typeface="+mn-lt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6982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4000" y="349200"/>
            <a:ext cx="2613600" cy="14796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US" b="1" dirty="0" err="1"/>
              <a:t>Innovat</a:t>
            </a:r>
            <a:r>
              <a:rPr lang="en-IN" b="1" dirty="0" err="1"/>
              <a:t>orsunited</a:t>
            </a:r>
            <a:endParaRPr lang="en-IN" b="1" dirty="0"/>
          </a:p>
          <a:p>
            <a:pPr algn="ctr"/>
            <a:endParaRPr lang="en-IN" b="1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98E9C5-912E-E01E-5217-FEDF15B7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777" y="112572"/>
            <a:ext cx="6518281" cy="1793722"/>
          </a:xfrm>
        </p:spPr>
        <p:txBody>
          <a:bodyPr/>
          <a:lstStyle/>
          <a:p>
            <a:pPr rtl="1"/>
            <a:r>
              <a:rPr lang="en-US" sz="3600" b="1" dirty="0">
                <a:latin typeface="Times New Roman" panose="02020803070505020304" pitchFamily="18" charset="0"/>
                <a:cs typeface="Times New Roman" panose="02020803070505020304" pitchFamily="18" charset="0"/>
              </a:rPr>
              <a:t>SMART TOURIST SAFETY MONITORING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B6FDE-247C-1722-5A83-2EA504C99033}"/>
              </a:ext>
            </a:extLst>
          </p:cNvPr>
          <p:cNvSpPr txBox="1"/>
          <p:nvPr/>
        </p:nvSpPr>
        <p:spPr>
          <a:xfrm>
            <a:off x="7852201" y="2075388"/>
            <a:ext cx="271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b="1"/>
              <a:t>Uniqueness</a:t>
            </a:r>
            <a:endParaRPr lang="en-US" sz="4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36681-C5E4-0EAC-D23B-8AF14972342E}"/>
              </a:ext>
            </a:extLst>
          </p:cNvPr>
          <p:cNvSpPr txBox="1"/>
          <p:nvPr/>
        </p:nvSpPr>
        <p:spPr>
          <a:xfrm>
            <a:off x="7620225" y="2979655"/>
            <a:ext cx="40998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800" b="1" dirty="0"/>
              <a:t>Works in network dead zones.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800" b="1" dirty="0"/>
              <a:t>Combines prevention and response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800" b="1" dirty="0"/>
              <a:t>Scalable for remote tourism.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96BF5-6024-76FF-D427-17500B7EF74D}"/>
              </a:ext>
            </a:extLst>
          </p:cNvPr>
          <p:cNvSpPr txBox="1"/>
          <p:nvPr/>
        </p:nvSpPr>
        <p:spPr>
          <a:xfrm>
            <a:off x="382049" y="2059028"/>
            <a:ext cx="2714200" cy="72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b="1" dirty="0"/>
              <a:t>Innovation</a:t>
            </a:r>
            <a:endParaRPr lang="en-US" sz="4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19693" y="185900"/>
            <a:ext cx="5974819" cy="139264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3073" y="347447"/>
            <a:ext cx="2611727" cy="14782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US" b="1" dirty="0" err="1"/>
              <a:t>Innovat</a:t>
            </a:r>
            <a:r>
              <a:rPr lang="en-IN" b="1" dirty="0" err="1"/>
              <a:t>orsunited</a:t>
            </a:r>
            <a:endParaRPr lang="en-IN" b="1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047908" y="1237061"/>
            <a:ext cx="4816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7386" y="1825716"/>
            <a:ext cx="4468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581" y="2592199"/>
            <a:ext cx="6500748" cy="41549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Mobile App: Flutter / React Native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Backend: Node.js / Python </a:t>
            </a:r>
            <a:r>
              <a:rPr lang="en-IN" sz="2400" b="1" dirty="0" err="1"/>
              <a:t>FastAPI</a:t>
            </a: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AI: </a:t>
            </a:r>
            <a:r>
              <a:rPr lang="en-US" sz="2400" b="1" dirty="0" err="1"/>
              <a:t>TensorFlow</a:t>
            </a:r>
            <a:r>
              <a:rPr lang="en-US" sz="2400" b="1" dirty="0"/>
              <a:t> Lite for offline hazard detection</a:t>
            </a: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/>
              <a:t>Blockchain</a:t>
            </a:r>
            <a:r>
              <a:rPr lang="en-IN" sz="2400" b="1" dirty="0"/>
              <a:t>: </a:t>
            </a:r>
            <a:r>
              <a:rPr lang="en-IN" sz="2400" b="1" dirty="0" err="1"/>
              <a:t>Hyperledger</a:t>
            </a:r>
            <a:r>
              <a:rPr lang="en-IN" sz="2400" b="1" dirty="0"/>
              <a:t> / </a:t>
            </a:r>
            <a:r>
              <a:rPr lang="en-IN" sz="2400" b="1" dirty="0" err="1"/>
              <a:t>Ethereum</a:t>
            </a:r>
            <a:r>
              <a:rPr lang="en-IN" sz="2400" b="1" dirty="0"/>
              <a:t> (Private)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Maps: </a:t>
            </a:r>
            <a:r>
              <a:rPr lang="en-US" sz="2400" b="1" dirty="0" err="1"/>
              <a:t>Mapbox</a:t>
            </a:r>
            <a:r>
              <a:rPr lang="en-US" sz="2400" b="1" dirty="0"/>
              <a:t> / OSM (offline tiles + geo-fencing)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Satellite </a:t>
            </a:r>
            <a:r>
              <a:rPr lang="en-IN" sz="2400" b="1" dirty="0" err="1"/>
              <a:t>IoT</a:t>
            </a:r>
            <a:r>
              <a:rPr lang="en-IN" sz="2400" b="1" dirty="0"/>
              <a:t>: Iridium </a:t>
            </a:r>
            <a:r>
              <a:rPr lang="en-IN" sz="2400" b="1" dirty="0" err="1"/>
              <a:t>RockBLOCK</a:t>
            </a:r>
            <a:r>
              <a:rPr lang="en-IN" sz="2400" b="1" dirty="0"/>
              <a:t> 9603 / </a:t>
            </a:r>
            <a:r>
              <a:rPr lang="en-IN" sz="2400" b="1" dirty="0" err="1"/>
              <a:t>NavIC</a:t>
            </a:r>
            <a:r>
              <a:rPr lang="en-IN" sz="2400" b="1" dirty="0"/>
              <a:t> receivers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Mesh fallback: Bluetooth / Wi-Fi Direct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8B31A-0CD3-064A-E1D5-F86CCF516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908" y="2039593"/>
            <a:ext cx="2363104" cy="4437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99654" y="-145047"/>
            <a:ext cx="7110214" cy="172701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92615" y="3483884"/>
            <a:ext cx="381492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Hardware:Iridium </a:t>
            </a:r>
            <a:r>
              <a:rPr lang="en-IN" sz="2400" b="1" dirty="0" err="1"/>
              <a:t>RockBLOCK</a:t>
            </a:r>
            <a:r>
              <a:rPr lang="en-IN" sz="2400" b="1" dirty="0"/>
              <a:t> (~₹27,000 per device)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Airtime: ~₹1,400/month/device (low-tier SBD plan)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Pilot (50 devices) ≈ ₹25–26 lakh (Year 1)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4000" y="349200"/>
            <a:ext cx="2613600" cy="14796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US" b="1" dirty="0" err="1"/>
              <a:t>Innovat</a:t>
            </a:r>
            <a:r>
              <a:rPr lang="en-IN" b="1" dirty="0" err="1"/>
              <a:t>orsunited</a:t>
            </a:r>
            <a:endParaRPr lang="en-IN" b="1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29" y="1729118"/>
            <a:ext cx="2001600" cy="2001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133" y="1445763"/>
            <a:ext cx="1998768" cy="19987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110" y="1080809"/>
            <a:ext cx="2348191" cy="2348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8222" y="3981453"/>
            <a:ext cx="38149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Satellite airtime cost scaling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GPS inaccuracy in hilly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Device power/battery in remote areas</a:t>
            </a: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097644" y="4001175"/>
            <a:ext cx="3548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Optimize payloads (200–800 bytes)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Use mesh relays to reduce satellite hits</a:t>
            </a:r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Solar-powered </a:t>
            </a:r>
            <a:r>
              <a:rPr lang="en-US" sz="2400" b="1" dirty="0" err="1"/>
              <a:t>IoT</a:t>
            </a:r>
            <a:r>
              <a:rPr lang="en-US" sz="2400" b="1" dirty="0"/>
              <a:t> dongles for longer life</a:t>
            </a:r>
            <a:endParaRPr lang="en-IN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472186" y="3321513"/>
            <a:ext cx="3380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Challenges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393" y="3269285"/>
            <a:ext cx="2436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26870" y="205195"/>
            <a:ext cx="6538259" cy="122759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412082" y="2751160"/>
            <a:ext cx="337563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Safer tourism → Increased visitor confidence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Faster emergency response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Transparent system for authorities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4000" y="349200"/>
            <a:ext cx="2613600" cy="14796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US" b="1" dirty="0" err="1"/>
              <a:t>Innovat</a:t>
            </a:r>
            <a:r>
              <a:rPr lang="en-IN" b="1" dirty="0" err="1"/>
              <a:t>orsunited</a:t>
            </a:r>
            <a:endParaRPr lang="en-IN" b="1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60800" y="2879326"/>
            <a:ext cx="45556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Tourists: Enhanced safety, quick help, secure 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Authorities: Real-time monitoring, tamper-proof logs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Tourism Industry: Boosts trust, economic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45176" y="1814865"/>
            <a:ext cx="6193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10000"/>
                </a:solidFill>
              </a:rPr>
              <a:t>Impacts 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4408074" y="1814866"/>
            <a:ext cx="2395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10000"/>
                </a:solidFill>
              </a:rPr>
              <a:t>Benefits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3339F-7AA1-AF73-0AD0-61E13483AD46}"/>
              </a:ext>
            </a:extLst>
          </p:cNvPr>
          <p:cNvSpPr txBox="1"/>
          <p:nvPr/>
        </p:nvSpPr>
        <p:spPr>
          <a:xfrm>
            <a:off x="200215" y="1814865"/>
            <a:ext cx="3899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b="1">
                <a:solidFill>
                  <a:srgbClr val="010000"/>
                </a:solidFill>
              </a:rPr>
              <a:t>Target Audience</a:t>
            </a:r>
            <a:endParaRPr lang="en-US" sz="4000" b="1">
              <a:solidFill>
                <a:srgbClr val="01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8C916-FC7B-BD6C-1201-99D103C35FFB}"/>
              </a:ext>
            </a:extLst>
          </p:cNvPr>
          <p:cNvSpPr txBox="1"/>
          <p:nvPr/>
        </p:nvSpPr>
        <p:spPr>
          <a:xfrm>
            <a:off x="200215" y="2879326"/>
            <a:ext cx="34552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800" b="1"/>
              <a:t>Solo travelers and families who want safety assurance.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800" b="1"/>
              <a:t>Local tourism departments ensuring visitor safety and satisfaction.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38612" y="-201633"/>
            <a:ext cx="7566212" cy="209567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4000" y="349200"/>
            <a:ext cx="2613600" cy="14796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US" b="1" dirty="0" err="1"/>
              <a:t>Innovat</a:t>
            </a:r>
            <a:r>
              <a:rPr lang="en-IN" b="1" dirty="0" err="1"/>
              <a:t>orsunited</a:t>
            </a:r>
            <a:endParaRPr lang="en-IN" b="1" dirty="0"/>
          </a:p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55FEE1-C5A4-1B49-E2C4-B199539FBF61}"/>
              </a:ext>
            </a:extLst>
          </p:cNvPr>
          <p:cNvSpPr txBox="1"/>
          <p:nvPr/>
        </p:nvSpPr>
        <p:spPr>
          <a:xfrm>
            <a:off x="329773" y="1956429"/>
            <a:ext cx="4204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b="1" dirty="0"/>
              <a:t>Research sources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B6D7B-BF10-9CAA-4E1A-0B91623C84FB}"/>
              </a:ext>
            </a:extLst>
          </p:cNvPr>
          <p:cNvSpPr txBox="1"/>
          <p:nvPr/>
        </p:nvSpPr>
        <p:spPr>
          <a:xfrm>
            <a:off x="329773" y="2726698"/>
            <a:ext cx="64953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Iridium </a:t>
            </a:r>
            <a:r>
              <a:rPr lang="en-IN" sz="2400" b="1" dirty="0" err="1"/>
              <a:t>RockBLOCK</a:t>
            </a:r>
            <a:r>
              <a:rPr lang="en-IN" sz="2400" b="1" dirty="0"/>
              <a:t> 9603 hardware &amp; airtime plans
Inmarsat </a:t>
            </a:r>
            <a:r>
              <a:rPr lang="en-IN" sz="2400" b="1" dirty="0" err="1"/>
              <a:t>IsatData</a:t>
            </a:r>
            <a:r>
              <a:rPr lang="en-IN" sz="2400" b="1" dirty="0"/>
              <a:t> Pro pricing &amp; modules
</a:t>
            </a:r>
            <a:r>
              <a:rPr lang="en-IN" sz="2400" b="1" dirty="0" err="1"/>
              <a:t>NavIC</a:t>
            </a:r>
            <a:r>
              <a:rPr lang="en-IN" sz="2400" b="1" dirty="0"/>
              <a:t> messaging services (</a:t>
            </a:r>
            <a:r>
              <a:rPr lang="en-IN" sz="2400" b="1" dirty="0" err="1"/>
              <a:t>Keltron</a:t>
            </a:r>
            <a:r>
              <a:rPr lang="en-IN" sz="2400" b="1" dirty="0"/>
              <a:t> prototypes)
Smart India Hackathon 2025 problem statement (Ministry of </a:t>
            </a:r>
            <a:r>
              <a:rPr lang="en-IN" sz="2400" b="1" dirty="0" err="1"/>
              <a:t>DoNER</a:t>
            </a:r>
            <a:r>
              <a:rPr lang="en-IN" sz="2400" b="1" dirty="0"/>
              <a:t>)
</a:t>
            </a:r>
            <a:r>
              <a:rPr lang="en-IN" sz="2400" b="1" dirty="0" err="1"/>
              <a:t>Mapbox</a:t>
            </a:r>
            <a:r>
              <a:rPr lang="en-IN" sz="2400" b="1" dirty="0"/>
              <a:t> / </a:t>
            </a:r>
            <a:r>
              <a:rPr lang="en-IN" sz="2400" b="1" dirty="0" err="1"/>
              <a:t>OpenStreetMap</a:t>
            </a:r>
            <a:r>
              <a:rPr lang="en-IN" sz="2400" b="1" dirty="0"/>
              <a:t> offline SDKs
</a:t>
            </a:r>
            <a:r>
              <a:rPr lang="en-IN" sz="2400" b="1" dirty="0" err="1"/>
              <a:t>TensorFlow</a:t>
            </a:r>
            <a:r>
              <a:rPr lang="en-IN" sz="2400" b="1" dirty="0"/>
              <a:t> </a:t>
            </a:r>
            <a:r>
              <a:rPr lang="en-IN" sz="2400" b="1" dirty="0" err="1"/>
              <a:t>Lite</a:t>
            </a:r>
            <a:r>
              <a:rPr lang="en-IN" sz="2400" b="1" dirty="0"/>
              <a:t> for on-device AI hazard models
</a:t>
            </a:r>
            <a:r>
              <a:rPr lang="en-IN" sz="2400" b="1" dirty="0" err="1"/>
              <a:t>Hyperledger</a:t>
            </a:r>
            <a:r>
              <a:rPr lang="en-IN" sz="2400" b="1" dirty="0"/>
              <a:t> Fabric for </a:t>
            </a:r>
            <a:r>
              <a:rPr lang="en-IN" sz="2400" b="1" dirty="0" err="1"/>
              <a:t>blockchain</a:t>
            </a:r>
            <a:r>
              <a:rPr lang="en-IN" sz="2400" b="1" dirty="0"/>
              <a:t>-based ID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4058A-11EA-DC68-735C-5D098AEE67F2}"/>
              </a:ext>
            </a:extLst>
          </p:cNvPr>
          <p:cNvSpPr txBox="1"/>
          <p:nvPr/>
        </p:nvSpPr>
        <p:spPr>
          <a:xfrm>
            <a:off x="6825129" y="1982709"/>
            <a:ext cx="44823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b="1" dirty="0"/>
              <a:t>Similar solutions studied </a:t>
            </a:r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64352-A457-F4C4-1CC1-C4295088AC0B}"/>
              </a:ext>
            </a:extLst>
          </p:cNvPr>
          <p:cNvSpPr txBox="1"/>
          <p:nvPr/>
        </p:nvSpPr>
        <p:spPr>
          <a:xfrm>
            <a:off x="6865083" y="3378041"/>
            <a:ext cx="4225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Smart India Hackathon 2025 problem statement (Ministry of </a:t>
            </a:r>
            <a:r>
              <a:rPr lang="en-IN" sz="2400" b="1" dirty="0" err="1"/>
              <a:t>DoNER</a:t>
            </a:r>
            <a:r>
              <a:rPr lang="en-IN" sz="2400" b="1" dirty="0"/>
              <a:t>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7612</TotalTime>
  <Words>383</Words>
  <Application>Microsoft Office PowerPoint</Application>
  <PresentationFormat>Widescreen</PresentationFormat>
  <Paragraphs>91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 SMART TOURIST SAFETY MONITORING SYSTEM </vt:lpstr>
      <vt:lpstr>SMART TOURIST SAFETY MONITORING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Jessina A</cp:lastModifiedBy>
  <cp:revision>167</cp:revision>
  <dcterms:created xsi:type="dcterms:W3CDTF">2013-12-12T18:46:50Z</dcterms:created>
  <dcterms:modified xsi:type="dcterms:W3CDTF">2025-09-25T14:39:28Z</dcterms:modified>
  <cp:category/>
</cp:coreProperties>
</file>